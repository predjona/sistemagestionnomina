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57" r:id="rId4"/>
    <p:sldId id="258" r:id="rId5"/>
    <p:sldId id="259" r:id="rId6"/>
    <p:sldId id="260" r:id="rId7"/>
    <p:sldId id="268" r:id="rId8"/>
    <p:sldId id="261" r:id="rId9"/>
    <p:sldId id="262" r:id="rId10"/>
    <p:sldId id="263" r:id="rId11"/>
    <p:sldId id="264" r:id="rId12"/>
    <p:sldId id="265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4E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44BC3-A96C-01DF-2694-777D56BAF7FA}" v="86" dt="2026-06-29T03:43:39.460"/>
    <p1510:client id="{14DF4F0B-3CB3-BF85-40D5-11B4BE66AF08}" v="960" dt="2026-06-29T04:14:49.590"/>
    <p1510:client id="{16E9C54F-84CD-A35F-1ACD-A4C5F58D80B4}" v="55" dt="2026-06-29T07:22:54.228"/>
    <p1510:client id="{2EA6B312-BB91-114D-8408-063051CFADFD}" v="28" dt="2026-06-29T12:19:24.232"/>
    <p1510:client id="{4D301599-9894-7C56-1E6F-1C89C98BBCF6}" v="335" dt="2026-06-29T05:50:52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9A71A9-73AE-4A21-808B-D09264DE95BD}" type="datetimeFigureOut">
              <a:t>6/29/2026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9A5BA-364A-45F8-9979-AB17086C4518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8236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34E92-8F3D-F544-97D6-B8AE1EF9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4E59F-86DF-9F05-BF56-376CE1D39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1A275-C13E-0C86-9ADE-C1017ABAC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A55A6-25F8-3F71-67E0-0D9AC4DA7B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12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6B9BA-07A5-FF8B-60DC-E38F8F94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A9B50-A178-9B85-2ECB-686EC98A0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2646D-2BEC-1E10-1DAF-91C2B9929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FA3EA-4AED-0A4A-0170-C11973B2D7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98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80B1-54A5-F594-C915-EBBF1C08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325232-B9C4-303F-1F35-C160D6526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89FBE3-9DCB-B19A-C5F7-1FCC49718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97E34-A817-D32C-C745-0A87DF1951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11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48693"/>
            <a:ext cx="571500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15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TEMA H:
MANEJO DE CAMPOS + PRINTDOCUMENT</a:t>
            </a:r>
            <a:endParaRPr lang="en-US" sz="4150"/>
          </a:p>
        </p:txBody>
      </p:sp>
      <p:sp>
        <p:nvSpPr>
          <p:cNvPr id="4" name="Text 1"/>
          <p:cNvSpPr/>
          <p:nvPr/>
        </p:nvSpPr>
        <p:spPr>
          <a:xfrm>
            <a:off x="571500" y="3177518"/>
            <a:ext cx="571500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>
                <a:solidFill>
                  <a:srgbClr val="9D4ED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Aplicación Práctica en NomiCore — Sistema de Gestión de Nómina</a:t>
            </a:r>
            <a:endParaRPr lang="en-US" sz="1700"/>
          </a:p>
        </p:txBody>
      </p:sp>
      <p:sp>
        <p:nvSpPr>
          <p:cNvPr id="5" name="Text 2"/>
          <p:cNvSpPr/>
          <p:nvPr/>
        </p:nvSpPr>
        <p:spPr>
          <a:xfrm>
            <a:off x="571500" y="3945471"/>
            <a:ext cx="3684389" cy="460511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r>
              <a:rPr lang="en-US" sz="1000" b="1">
                <a:solidFill>
                  <a:srgbClr val="A084CF"/>
                </a:solidFill>
                <a:latin typeface="Inter Medium"/>
                <a:ea typeface="Inter Medium"/>
                <a:cs typeface="Inter Medium" pitchFamily="34" charset="-120"/>
              </a:rPr>
              <a:t>Equipo de Desarrollo NomiCore</a:t>
            </a:r>
            <a:r>
              <a:rPr lang="en-US" sz="1050">
                <a:solidFill>
                  <a:srgbClr val="A084CF"/>
                </a:solidFill>
                <a:latin typeface="Inter"/>
                <a:ea typeface="Inter"/>
                <a:cs typeface="Inter" pitchFamily="34" charset="-120"/>
              </a:rPr>
              <a:t>
Implementación de POO y Generación de Documentos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BCE0F04-AB47-D5CF-DC02-B2F1447F2282}"/>
              </a:ext>
            </a:extLst>
          </p:cNvPr>
          <p:cNvSpPr/>
          <p:nvPr/>
        </p:nvSpPr>
        <p:spPr>
          <a:xfrm>
            <a:off x="4572000" y="3642800"/>
            <a:ext cx="968405" cy="906787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r>
              <a:rPr lang="en-US" sz="1000" b="1" err="1">
                <a:solidFill>
                  <a:srgbClr val="A084CF"/>
                </a:solidFill>
                <a:ea typeface="Inter Medium"/>
                <a:cs typeface="Calibri"/>
              </a:rPr>
              <a:t>Integrantes</a:t>
            </a:r>
            <a:r>
              <a:rPr lang="en-US" sz="1000" b="1">
                <a:solidFill>
                  <a:srgbClr val="A084CF"/>
                </a:solidFill>
                <a:ea typeface="Inter Medium"/>
                <a:cs typeface="Calibri"/>
              </a:rPr>
              <a:t>:</a:t>
            </a:r>
          </a:p>
          <a:p>
            <a:r>
              <a:rPr lang="en-US" sz="1000" b="1">
                <a:solidFill>
                  <a:srgbClr val="A084CF"/>
                </a:solidFill>
                <a:ea typeface="Inter Medium"/>
                <a:cs typeface="Calibri"/>
              </a:rPr>
              <a:t>Jonathan Romero</a:t>
            </a:r>
          </a:p>
          <a:p>
            <a:r>
              <a:rPr lang="en-US" sz="1000" b="1">
                <a:solidFill>
                  <a:srgbClr val="A084CF"/>
                </a:solidFill>
                <a:ea typeface="Inter Medium"/>
                <a:cs typeface="Calibri"/>
              </a:rPr>
              <a:t>José </a:t>
            </a:r>
            <a:r>
              <a:rPr lang="en-US" sz="1000" b="1" err="1">
                <a:solidFill>
                  <a:srgbClr val="A084CF"/>
                </a:solidFill>
                <a:ea typeface="Inter Medium"/>
                <a:cs typeface="Calibri"/>
              </a:rPr>
              <a:t>Martínez</a:t>
            </a:r>
            <a:endParaRPr lang="en-US" sz="1000" b="1">
              <a:solidFill>
                <a:srgbClr val="A084CF"/>
              </a:solidFill>
              <a:ea typeface="Inter Medium"/>
              <a:cs typeface="Calibri"/>
            </a:endParaRPr>
          </a:p>
          <a:p>
            <a:r>
              <a:rPr lang="en-US" sz="1000" b="1">
                <a:solidFill>
                  <a:srgbClr val="A084CF"/>
                </a:solidFill>
                <a:ea typeface="Inter Medium"/>
                <a:cs typeface="Calibri"/>
              </a:rPr>
              <a:t>Davis Batista</a:t>
            </a:r>
          </a:p>
          <a:p>
            <a:r>
              <a:rPr lang="en-US" sz="1000" b="1">
                <a:solidFill>
                  <a:srgbClr val="A084CF"/>
                </a:solidFill>
                <a:ea typeface="Inter Medium"/>
                <a:cs typeface="Calibri"/>
              </a:rPr>
              <a:t>Karen Wen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01BC611-8724-044A-300A-730A781280D9}"/>
              </a:ext>
            </a:extLst>
          </p:cNvPr>
          <p:cNvSpPr/>
          <p:nvPr/>
        </p:nvSpPr>
        <p:spPr>
          <a:xfrm>
            <a:off x="6286498" y="3722313"/>
            <a:ext cx="2067861" cy="1060675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r>
              <a:rPr lang="en-US" sz="1000" b="1" err="1">
                <a:solidFill>
                  <a:srgbClr val="A084CF"/>
                </a:solidFill>
                <a:ea typeface="Inter Medium"/>
                <a:cs typeface="Calibri"/>
              </a:rPr>
              <a:t>Licenciatura</a:t>
            </a:r>
            <a:r>
              <a:rPr lang="en-US" sz="1000" b="1">
                <a:solidFill>
                  <a:srgbClr val="A084CF"/>
                </a:solidFill>
                <a:ea typeface="Inter Medium"/>
                <a:cs typeface="Calibri"/>
              </a:rPr>
              <a:t> </a:t>
            </a:r>
            <a:r>
              <a:rPr lang="en-US" sz="1000" b="1" err="1">
                <a:solidFill>
                  <a:srgbClr val="A084CF"/>
                </a:solidFill>
                <a:ea typeface="Inter Medium"/>
                <a:cs typeface="Calibri"/>
              </a:rPr>
              <a:t>en</a:t>
            </a:r>
            <a:r>
              <a:rPr lang="en-US" sz="1000" b="1">
                <a:solidFill>
                  <a:srgbClr val="A084CF"/>
                </a:solidFill>
                <a:ea typeface="Inter Medium"/>
                <a:cs typeface="Calibri"/>
              </a:rPr>
              <a:t> Ingeniería de Software</a:t>
            </a:r>
          </a:p>
          <a:p>
            <a:r>
              <a:rPr lang="en-US" sz="1000" b="1" err="1">
                <a:solidFill>
                  <a:srgbClr val="A084CF"/>
                </a:solidFill>
                <a:ea typeface="Inter Medium"/>
                <a:cs typeface="Calibri"/>
              </a:rPr>
              <a:t>Lenguaje</a:t>
            </a:r>
            <a:r>
              <a:rPr lang="en-US" sz="1000" b="1">
                <a:solidFill>
                  <a:srgbClr val="A084CF"/>
                </a:solidFill>
                <a:ea typeface="Inter Medium"/>
                <a:cs typeface="Calibri"/>
              </a:rPr>
              <a:t> de </a:t>
            </a:r>
            <a:r>
              <a:rPr lang="en-US" sz="1000" b="1" err="1">
                <a:solidFill>
                  <a:srgbClr val="A084CF"/>
                </a:solidFill>
                <a:ea typeface="Inter Medium"/>
                <a:cs typeface="Calibri"/>
              </a:rPr>
              <a:t>Programación</a:t>
            </a:r>
            <a:r>
              <a:rPr lang="en-US" sz="1000" b="1">
                <a:solidFill>
                  <a:srgbClr val="A084CF"/>
                </a:solidFill>
                <a:ea typeface="Inter Medium"/>
                <a:cs typeface="Calibri"/>
              </a:rPr>
              <a:t> 1</a:t>
            </a:r>
          </a:p>
          <a:p>
            <a:endParaRPr lang="en-US" sz="1000" b="1">
              <a:solidFill>
                <a:srgbClr val="A084CF"/>
              </a:solidFill>
              <a:ea typeface="Inter Medium"/>
              <a:cs typeface="Calibri"/>
            </a:endParaRPr>
          </a:p>
          <a:p>
            <a:r>
              <a:rPr lang="en-US" sz="1000" b="1">
                <a:solidFill>
                  <a:srgbClr val="A084CF"/>
                </a:solidFill>
                <a:ea typeface="Inter Medium"/>
                <a:cs typeface="Calibri"/>
              </a:rPr>
              <a:t>1SF121</a:t>
            </a:r>
            <a:endParaRPr lang="en-US"/>
          </a:p>
          <a:p>
            <a:r>
              <a:rPr lang="en-US" sz="1000" b="1">
                <a:solidFill>
                  <a:srgbClr val="A084CF"/>
                </a:solidFill>
                <a:ea typeface="Inter Medium"/>
                <a:cs typeface="Calibri"/>
              </a:rPr>
              <a:t>Equipo: 01</a:t>
            </a:r>
          </a:p>
          <a:p>
            <a:endParaRPr lang="en-US" sz="1000" b="1">
              <a:solidFill>
                <a:srgbClr val="A084CF"/>
              </a:solidFill>
              <a:ea typeface="Inter Medium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DA5F-48CB-4C45-0074-3C5376940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5AF052E-B811-1189-85A3-A205662DC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9459" cy="514895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2EF9876-8F0D-877F-594C-4E7668E6F90C}"/>
              </a:ext>
            </a:extLst>
          </p:cNvPr>
          <p:cNvSpPr/>
          <p:nvPr/>
        </p:nvSpPr>
        <p:spPr>
          <a:xfrm>
            <a:off x="185057" y="1778704"/>
            <a:ext cx="178525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9D4EDD"/>
                </a:solidFill>
                <a:latin typeface="Inter Medium"/>
              </a:rPr>
              <a:t>Jonathan Romero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78D59D3-99D6-E344-FBDB-1F254F2087CD}"/>
              </a:ext>
            </a:extLst>
          </p:cNvPr>
          <p:cNvSpPr/>
          <p:nvPr/>
        </p:nvSpPr>
        <p:spPr>
          <a:xfrm>
            <a:off x="182336" y="1041588"/>
            <a:ext cx="2096861" cy="731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en-US" b="1">
                <a:solidFill>
                  <a:srgbClr val="BE95FF"/>
                </a:solidFill>
                <a:latin typeface="Space Grotesk Bold"/>
                <a:ea typeface="Space Grotesk Bold"/>
                <a:cs typeface="Space Grotesk Bold" pitchFamily="34" charset="-120"/>
              </a:rPr>
              <a:t>1. LOS CAMPOS DEFINEN EL ESTADO INTERNO</a:t>
            </a:r>
            <a:endParaRPr lang="en-US">
              <a:solidFill>
                <a:srgbClr val="000000"/>
              </a:solidFill>
              <a:ea typeface="Space Grotesk Bold"/>
              <a:cs typeface="Calibri" panose="020F0502020204030204"/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FE6D11C9-ECE5-65B1-8DB3-8DEABC3C27B8}"/>
              </a:ext>
            </a:extLst>
          </p:cNvPr>
          <p:cNvSpPr/>
          <p:nvPr/>
        </p:nvSpPr>
        <p:spPr>
          <a:xfrm>
            <a:off x="4923063" y="1027782"/>
            <a:ext cx="1774372" cy="731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en-US" b="1">
                <a:solidFill>
                  <a:srgbClr val="BE95FF"/>
                </a:solidFill>
                <a:latin typeface="Space Grotesk Bold"/>
                <a:ea typeface="Space Grotesk Bold"/>
                <a:cs typeface="Space Grotesk Bold" pitchFamily="34" charset="-120"/>
              </a:rPr>
              <a:t>3. </a:t>
            </a:r>
            <a:r>
              <a:rPr lang="en-US" b="1">
                <a:solidFill>
                  <a:srgbClr val="BE95FF"/>
                </a:solidFill>
                <a:latin typeface="Space Grotesk Bold" pitchFamily="34" charset="0"/>
                <a:ea typeface="Space Grotesk Bold"/>
                <a:cs typeface="Space Grotesk Bold" pitchFamily="34" charset="-120"/>
              </a:rPr>
              <a:t>POO REAL EN CLASES DE ENTIDAD</a:t>
            </a:r>
            <a:endParaRPr lang="en-US">
              <a:ea typeface="Space Grotesk Bold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A362399F-79CA-1D6A-1AFD-F4F3111A49C9}"/>
              </a:ext>
            </a:extLst>
          </p:cNvPr>
          <p:cNvSpPr/>
          <p:nvPr/>
        </p:nvSpPr>
        <p:spPr>
          <a:xfrm>
            <a:off x="6909708" y="984239"/>
            <a:ext cx="2051957" cy="731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en-US" b="1">
                <a:solidFill>
                  <a:srgbClr val="BE95FF"/>
                </a:solidFill>
                <a:latin typeface="Space Grotesk Bold" pitchFamily="34" charset="0"/>
                <a:ea typeface="Space Grotesk Bold"/>
                <a:cs typeface="Space Grotesk Bold" pitchFamily="34" charset="-120"/>
              </a:rPr>
              <a:t>4. PREVENCIÓN DE DATOS INCONSISTENTES</a:t>
            </a:r>
            <a:endParaRPr lang="en-US">
              <a:ea typeface="Space Grotesk Bold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2CF6DAC-6A82-B7E3-F28A-E3F1A413428E}"/>
              </a:ext>
            </a:extLst>
          </p:cNvPr>
          <p:cNvSpPr/>
          <p:nvPr/>
        </p:nvSpPr>
        <p:spPr>
          <a:xfrm>
            <a:off x="247650" y="2999068"/>
            <a:ext cx="2071688" cy="975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en-US" b="1">
                <a:solidFill>
                  <a:srgbClr val="BE95FF"/>
                </a:solidFill>
                <a:latin typeface="Space Grotesk Bold"/>
                <a:ea typeface="Space Grotesk Bold"/>
                <a:cs typeface="Space Grotesk Bold" pitchFamily="34" charset="-120"/>
              </a:rPr>
              <a:t>5. DISEÑO PERSONALIZADO</a:t>
            </a:r>
            <a:r>
              <a:rPr lang="en-US" b="1">
                <a:solidFill>
                  <a:srgbClr val="BE95FF"/>
                </a:solidFill>
                <a:latin typeface="Space Grotesk Bold" pitchFamily="34" charset="0"/>
                <a:ea typeface="Space Grotesk Bold"/>
                <a:cs typeface="Space Grotesk Bold" pitchFamily="34" charset="-120"/>
              </a:rPr>
              <a:t> CON PRINTDOCUMENT</a:t>
            </a:r>
            <a:endParaRPr lang="en-US">
              <a:ea typeface="Space Grotesk Bold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0415D979-6CB6-4B42-3195-859315481DD5}"/>
              </a:ext>
            </a:extLst>
          </p:cNvPr>
          <p:cNvSpPr/>
          <p:nvPr/>
        </p:nvSpPr>
        <p:spPr>
          <a:xfrm>
            <a:off x="2435678" y="2928311"/>
            <a:ext cx="1295400" cy="731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en-US" b="1">
                <a:solidFill>
                  <a:srgbClr val="BE95FF"/>
                </a:solidFill>
                <a:latin typeface="Space Grotesk Bold"/>
                <a:ea typeface="Space Grotesk Bold"/>
                <a:cs typeface="Space Grotesk Bold" pitchFamily="34" charset="-120"/>
              </a:rPr>
              <a:t>6. </a:t>
            </a:r>
            <a:r>
              <a:rPr lang="en-US" b="1">
                <a:solidFill>
                  <a:srgbClr val="BE95FF"/>
                </a:solidFill>
                <a:latin typeface="Space Grotesk Bold" pitchFamily="34" charset="0"/>
                <a:ea typeface="Space Grotesk Bold"/>
                <a:cs typeface="Space Grotesk Bold" pitchFamily="34" charset="-120"/>
              </a:rPr>
              <a:t>FLUJO LÓGICO DE IMPRESIÓN</a:t>
            </a:r>
            <a:endParaRPr lang="en-US">
              <a:ea typeface="Space Grotesk Bold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2903B931-A2DD-ADA9-E7D0-F183D719D638}"/>
              </a:ext>
            </a:extLst>
          </p:cNvPr>
          <p:cNvSpPr/>
          <p:nvPr/>
        </p:nvSpPr>
        <p:spPr>
          <a:xfrm>
            <a:off x="4075338" y="2877537"/>
            <a:ext cx="2737758" cy="46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en-US" sz="1700" b="1">
                <a:solidFill>
                  <a:srgbClr val="BE95FF"/>
                </a:solidFill>
                <a:latin typeface="Space Grotesk Bold" pitchFamily="34" charset="0"/>
                <a:ea typeface="Space Grotesk Bold"/>
                <a:cs typeface="Space Grotesk Bold" pitchFamily="34" charset="-120"/>
              </a:rPr>
              <a:t>7. PROFESIONALIZACIÓN MEDIANTE COMPROBANTES</a:t>
            </a:r>
            <a:endParaRPr lang="en-US" sz="1700">
              <a:ea typeface="Space Grotesk Bold"/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0D925854-CA1F-A2C7-8F33-7DD5EE341642}"/>
              </a:ext>
            </a:extLst>
          </p:cNvPr>
          <p:cNvSpPr/>
          <p:nvPr/>
        </p:nvSpPr>
        <p:spPr>
          <a:xfrm>
            <a:off x="7047139" y="2867914"/>
            <a:ext cx="1875064" cy="731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en-US" b="1">
                <a:solidFill>
                  <a:srgbClr val="BE95FF"/>
                </a:solidFill>
                <a:latin typeface="Space Grotesk Bold" pitchFamily="34" charset="0"/>
                <a:ea typeface="Space Grotesk Bold"/>
                <a:cs typeface="Space Grotesk Bold" pitchFamily="34" charset="-120"/>
              </a:rPr>
              <a:t>9. INTEGRACIÓN DE SEGURIDAD Y RESULTADOS</a:t>
            </a:r>
            <a:endParaRPr lang="en-US">
              <a:ea typeface="Space Grotesk Bold"/>
              <a:cs typeface="Calibri" panose="020F0502020204030204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BC8E1E1C-2D53-476A-5C0B-44E590C07CF3}"/>
              </a:ext>
            </a:extLst>
          </p:cNvPr>
          <p:cNvSpPr/>
          <p:nvPr/>
        </p:nvSpPr>
        <p:spPr>
          <a:xfrm>
            <a:off x="2462892" y="947111"/>
            <a:ext cx="2354716" cy="975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en-US" b="1">
                <a:solidFill>
                  <a:srgbClr val="BE95FF"/>
                </a:solidFill>
                <a:latin typeface="Space Grotesk Bold"/>
                <a:ea typeface="Space Grotesk Bold"/>
                <a:cs typeface="Space Grotesk Bold" pitchFamily="34" charset="-120"/>
              </a:rPr>
              <a:t>2. EL ENCAPSULAMIENTO GARANTIZA LA INTEGRIDAD</a:t>
            </a:r>
            <a:endParaRPr lang="en-US">
              <a:latin typeface="Space Grotesk Bold"/>
              <a:ea typeface="Space Grotesk Bold"/>
            </a:endParaRPr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B0BC4555-02E0-F176-3888-44E666DDC7B8}"/>
              </a:ext>
            </a:extLst>
          </p:cNvPr>
          <p:cNvSpPr/>
          <p:nvPr/>
        </p:nvSpPr>
        <p:spPr>
          <a:xfrm>
            <a:off x="4080782" y="3657128"/>
            <a:ext cx="1679122" cy="46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en-US" sz="1700" b="1">
                <a:solidFill>
                  <a:srgbClr val="BE95FF"/>
                </a:solidFill>
                <a:latin typeface="Space Grotesk Bold" pitchFamily="34" charset="0"/>
              </a:rPr>
              <a:t>8. SEGURIDAD DE LOS DATOS</a:t>
            </a:r>
            <a:endParaRPr lang="en-US" sz="1700" b="1">
              <a:solidFill>
                <a:srgbClr val="BE95FF"/>
              </a:solidFill>
              <a:latin typeface="Space Grotesk Bold" pitchFamily="34" charset="0"/>
              <a:ea typeface="Space Grotesk Bold"/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B16EA9C2-6566-A135-1D05-B134EA7A333F}"/>
              </a:ext>
            </a:extLst>
          </p:cNvPr>
          <p:cNvSpPr/>
          <p:nvPr/>
        </p:nvSpPr>
        <p:spPr>
          <a:xfrm>
            <a:off x="2465613" y="1920218"/>
            <a:ext cx="178525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9D4EDD"/>
                </a:solidFill>
                <a:latin typeface="Inter Medium"/>
              </a:rPr>
              <a:t>Karen Wen</a:t>
            </a: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815BEA09-29FE-2705-A525-3BCE06B53482}"/>
              </a:ext>
            </a:extLst>
          </p:cNvPr>
          <p:cNvSpPr/>
          <p:nvPr/>
        </p:nvSpPr>
        <p:spPr>
          <a:xfrm>
            <a:off x="4920342" y="1762374"/>
            <a:ext cx="178525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9D4EDD"/>
                </a:solidFill>
                <a:latin typeface="Inter Medium"/>
              </a:rPr>
              <a:t>Karen Wen</a:t>
            </a: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8D74CF7C-974A-23C3-93D0-C53F511C27C4}"/>
              </a:ext>
            </a:extLst>
          </p:cNvPr>
          <p:cNvSpPr/>
          <p:nvPr/>
        </p:nvSpPr>
        <p:spPr>
          <a:xfrm>
            <a:off x="6939643" y="1713389"/>
            <a:ext cx="178525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9D4EDD"/>
                </a:solidFill>
                <a:latin typeface="Inter Medium"/>
              </a:rPr>
              <a:t>Karen Wen</a:t>
            </a:r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C98E0D56-7F67-307B-2D25-DD316B2832BA}"/>
              </a:ext>
            </a:extLst>
          </p:cNvPr>
          <p:cNvSpPr/>
          <p:nvPr/>
        </p:nvSpPr>
        <p:spPr>
          <a:xfrm>
            <a:off x="250370" y="3950403"/>
            <a:ext cx="178525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9D4EDD"/>
                </a:solidFill>
                <a:latin typeface="Inter Medium"/>
              </a:rPr>
              <a:t>José Martínez</a:t>
            </a: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41A008BA-E96F-D411-4B44-61898F048AE0}"/>
              </a:ext>
            </a:extLst>
          </p:cNvPr>
          <p:cNvSpPr/>
          <p:nvPr/>
        </p:nvSpPr>
        <p:spPr>
          <a:xfrm>
            <a:off x="2438397" y="3689145"/>
            <a:ext cx="178525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9D4EDD"/>
                </a:solidFill>
                <a:latin typeface="Inter Medium"/>
              </a:rPr>
              <a:t>José Martínez</a:t>
            </a: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839CFFAA-41E8-3B6E-9D3B-FAC20C0B2E64}"/>
              </a:ext>
            </a:extLst>
          </p:cNvPr>
          <p:cNvSpPr/>
          <p:nvPr/>
        </p:nvSpPr>
        <p:spPr>
          <a:xfrm>
            <a:off x="470807" y="214273"/>
            <a:ext cx="7191375" cy="54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en-US" sz="4000" b="1">
                <a:solidFill>
                  <a:srgbClr val="BE95FF"/>
                </a:solidFill>
                <a:ea typeface="Space Grotesk Bold"/>
              </a:rPr>
              <a:t>TEMAS</a:t>
            </a:r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28FDE6-97C1-3F0F-91EC-7CF79ACA07B9}"/>
              </a:ext>
            </a:extLst>
          </p:cNvPr>
          <p:cNvSpPr/>
          <p:nvPr/>
        </p:nvSpPr>
        <p:spPr>
          <a:xfrm>
            <a:off x="7043054" y="3689145"/>
            <a:ext cx="178525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9D4EDD"/>
                </a:solidFill>
                <a:latin typeface="Inter Medium"/>
              </a:rPr>
              <a:t>Jonathan Romero</a:t>
            </a:r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1241DF0-0AD9-6920-784F-9EE4FC608274}"/>
              </a:ext>
            </a:extLst>
          </p:cNvPr>
          <p:cNvSpPr/>
          <p:nvPr/>
        </p:nvSpPr>
        <p:spPr>
          <a:xfrm>
            <a:off x="4082139" y="4195331"/>
            <a:ext cx="178525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9D4EDD"/>
                </a:solidFill>
                <a:latin typeface="Inter Medium"/>
              </a:rPr>
              <a:t>Davis Batista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17B641-B8B5-151C-05D2-BB14AE16E4EA}"/>
              </a:ext>
            </a:extLst>
          </p:cNvPr>
          <p:cNvSpPr/>
          <p:nvPr/>
        </p:nvSpPr>
        <p:spPr>
          <a:xfrm>
            <a:off x="375558" y="2441121"/>
            <a:ext cx="8420100" cy="32658"/>
          </a:xfrm>
          <a:prstGeom prst="rect">
            <a:avLst/>
          </a:prstGeom>
          <a:solidFill>
            <a:srgbClr val="9D4EDD"/>
          </a:solidFill>
          <a:ln>
            <a:solidFill>
              <a:srgbClr val="9D4E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52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1857375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DEFINICIÓN</a:t>
            </a:r>
            <a:endParaRPr lang="en-US" sz="750"/>
          </a:p>
        </p:txBody>
      </p:sp>
      <p:sp>
        <p:nvSpPr>
          <p:cNvPr id="4" name="Text 1"/>
          <p:cNvSpPr/>
          <p:nvPr/>
        </p:nvSpPr>
        <p:spPr>
          <a:xfrm>
            <a:off x="285750" y="829317"/>
            <a:ext cx="1857375" cy="1327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LOS CAMPOS DEFINEN EL ESTADO INTERNO</a:t>
            </a:r>
            <a:endParaRPr lang="en-US" sz="2450"/>
          </a:p>
        </p:txBody>
      </p:sp>
      <p:sp>
        <p:nvSpPr>
          <p:cNvPr id="5" name="Text 2"/>
          <p:cNvSpPr/>
          <p:nvPr/>
        </p:nvSpPr>
        <p:spPr>
          <a:xfrm>
            <a:off x="2586038" y="428625"/>
            <a:ext cx="3000375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CONCEPTOS CLAVE</a:t>
            </a:r>
            <a:endParaRPr lang="en-US" sz="750"/>
          </a:p>
        </p:txBody>
      </p:sp>
      <p:sp>
        <p:nvSpPr>
          <p:cNvPr id="6" name="Text 3"/>
          <p:cNvSpPr/>
          <p:nvPr/>
        </p:nvSpPr>
        <p:spPr>
          <a:xfrm>
            <a:off x="2586038" y="701873"/>
            <a:ext cx="3000375" cy="1009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Los </a:t>
            </a:r>
            <a:r>
              <a:rPr lang="en-US" sz="1150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fields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son variables declaradas directamente en una clase que almacenan los datos esenciales del objeto.</a:t>
            </a:r>
            <a:endParaRPr lang="en-US" sz="1150"/>
          </a:p>
        </p:txBody>
      </p:sp>
      <p:sp>
        <p:nvSpPr>
          <p:cNvPr id="7" name="Text 4"/>
          <p:cNvSpPr/>
          <p:nvPr/>
        </p:nvSpPr>
        <p:spPr>
          <a:xfrm>
            <a:off x="2586038" y="1882713"/>
            <a:ext cx="30003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 </a:t>
            </a:r>
            <a:r>
              <a:rPr lang="en-US" sz="1100" b="1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NomiCore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constituyen la materia prima: nombres, salarios y fechas de ingreso.</a:t>
            </a:r>
            <a:endParaRPr lang="en-US" sz="1150"/>
          </a:p>
        </p:txBody>
      </p:sp>
      <p:sp>
        <p:nvSpPr>
          <p:cNvPr id="8" name="Text 5"/>
          <p:cNvSpPr/>
          <p:nvPr/>
        </p:nvSpPr>
        <p:spPr>
          <a:xfrm>
            <a:off x="2586038" y="2808526"/>
            <a:ext cx="3000375" cy="757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 manejan como </a:t>
            </a:r>
            <a:r>
              <a:rPr lang="en-US" sz="1150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private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para seguir el principio de ocultamiento de información.</a:t>
            </a:r>
            <a:endParaRPr lang="en-US" sz="1150"/>
          </a:p>
        </p:txBody>
      </p:sp>
      <p:sp>
        <p:nvSpPr>
          <p:cNvPr id="9" name="Text 6"/>
          <p:cNvSpPr/>
          <p:nvPr/>
        </p:nvSpPr>
        <p:spPr>
          <a:xfrm>
            <a:off x="2586038" y="3737911"/>
            <a:ext cx="30003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Sin campos bien definidos, el objeto carece de estado y propósito dentro del sistema.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5886450" y="0"/>
            <a:ext cx="3257550" cy="5143500"/>
          </a:xfrm>
          <a:prstGeom prst="rect">
            <a:avLst/>
          </a:prstGeom>
          <a:solidFill>
            <a:srgbClr val="160630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428625"/>
            <a:ext cx="268605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IMPLEMENTACIÓN</a:t>
            </a:r>
            <a:endParaRPr lang="en-US" sz="750"/>
          </a:p>
        </p:txBody>
      </p:sp>
      <p:sp>
        <p:nvSpPr>
          <p:cNvPr id="12" name="Shape 9"/>
          <p:cNvSpPr/>
          <p:nvPr/>
        </p:nvSpPr>
        <p:spPr>
          <a:xfrm>
            <a:off x="6172200" y="616148"/>
            <a:ext cx="2686050" cy="1423002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15075" y="759023"/>
            <a:ext cx="2400300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class</a:t>
            </a:r>
            <a:r>
              <a:rPr lang="en-US" sz="9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Empleado {
</a:t>
            </a:r>
            <a:r>
              <a:rPr lang="en-US" sz="950">
                <a:solidFill>
                  <a:srgbClr val="7B2CB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Campos privados</a:t>
            </a:r>
            <a:r>
              <a:rPr lang="en-US" sz="9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950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private string</a:t>
            </a:r>
            <a:r>
              <a:rPr lang="en-US" sz="9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nombre;
</a:t>
            </a:r>
            <a:r>
              <a:rPr lang="en-US" sz="950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private decimal</a:t>
            </a:r>
            <a:r>
              <a:rPr lang="en-US" sz="9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salario;
</a:t>
            </a:r>
            <a:r>
              <a:rPr lang="en-US" sz="950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private DateTime</a:t>
            </a:r>
            <a:r>
              <a:rPr lang="en-US" sz="9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fecha;
}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20716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SEGURIDAD</a:t>
            </a:r>
            <a:endParaRPr lang="en-US" sz="750"/>
          </a:p>
        </p:txBody>
      </p:sp>
      <p:sp>
        <p:nvSpPr>
          <p:cNvPr id="4" name="Text 1"/>
          <p:cNvSpPr/>
          <p:nvPr/>
        </p:nvSpPr>
        <p:spPr>
          <a:xfrm>
            <a:off x="285750" y="805597"/>
            <a:ext cx="2071688" cy="1218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5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EL ENCAPSULAMIENTO GARANTIZA LA INTEGRIDAD</a:t>
            </a:r>
            <a:endParaRPr lang="en-US" sz="2250"/>
          </a:p>
        </p:txBody>
      </p:sp>
      <p:sp>
        <p:nvSpPr>
          <p:cNvPr id="5" name="Text 2"/>
          <p:cNvSpPr/>
          <p:nvPr/>
        </p:nvSpPr>
        <p:spPr>
          <a:xfrm>
            <a:off x="2800350" y="428625"/>
            <a:ext cx="28575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MECANISMOS</a:t>
            </a:r>
            <a:endParaRPr lang="en-US" sz="750"/>
          </a:p>
        </p:txBody>
      </p:sp>
      <p:sp>
        <p:nvSpPr>
          <p:cNvPr id="6" name="Text 3"/>
          <p:cNvSpPr/>
          <p:nvPr/>
        </p:nvSpPr>
        <p:spPr>
          <a:xfrm>
            <a:off x="2800350" y="701873"/>
            <a:ext cx="2857500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 </a:t>
            </a:r>
            <a:r>
              <a:rPr lang="en-US" sz="1100" b="1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protección de datos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restringe el acceso directo a los campos para evitar modificaciones accidentales.</a:t>
            </a:r>
            <a:endParaRPr lang="en-US" sz="1150"/>
          </a:p>
        </p:txBody>
      </p:sp>
      <p:sp>
        <p:nvSpPr>
          <p:cNvPr id="7" name="Text 4"/>
          <p:cNvSpPr/>
          <p:nvPr/>
        </p:nvSpPr>
        <p:spPr>
          <a:xfrm>
            <a:off x="2800350" y="1627687"/>
            <a:ext cx="2857500" cy="50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Las propiedades </a:t>
            </a:r>
            <a:r>
              <a:rPr lang="en-US" sz="11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get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y </a:t>
            </a:r>
            <a:r>
              <a:rPr lang="en-US" sz="11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set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actúan como intermediarios inteligentes.</a:t>
            </a:r>
            <a:endParaRPr lang="en-US" sz="1150"/>
          </a:p>
        </p:txBody>
      </p:sp>
      <p:sp>
        <p:nvSpPr>
          <p:cNvPr id="8" name="Text 5"/>
          <p:cNvSpPr/>
          <p:nvPr/>
        </p:nvSpPr>
        <p:spPr>
          <a:xfrm>
            <a:off x="2800350" y="2305617"/>
            <a:ext cx="2857500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Permiten inyectar </a:t>
            </a:r>
            <a:r>
              <a:rPr lang="en-US" sz="1100" b="1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reglas de negocio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en el momento exacto en que el dato intenta ingresar.</a:t>
            </a:r>
            <a:endParaRPr lang="en-US" sz="1150"/>
          </a:p>
        </p:txBody>
      </p:sp>
      <p:sp>
        <p:nvSpPr>
          <p:cNvPr id="9" name="Text 6"/>
          <p:cNvSpPr/>
          <p:nvPr/>
        </p:nvSpPr>
        <p:spPr>
          <a:xfrm>
            <a:off x="2800350" y="3231431"/>
            <a:ext cx="2857500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Centraliza el control de calidad de la información en la propia definición del objeto.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5957888" y="0"/>
            <a:ext cx="3186113" cy="5143500"/>
          </a:xfrm>
          <a:prstGeom prst="rect">
            <a:avLst/>
          </a:prstGeom>
          <a:solidFill>
            <a:srgbClr val="160630"/>
          </a:solidFill>
          <a:ln/>
        </p:spPr>
      </p:sp>
      <p:sp>
        <p:nvSpPr>
          <p:cNvPr id="11" name="Text 8"/>
          <p:cNvSpPr/>
          <p:nvPr/>
        </p:nvSpPr>
        <p:spPr>
          <a:xfrm>
            <a:off x="6243638" y="428625"/>
            <a:ext cx="2614613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ARQUITECTURA</a:t>
            </a:r>
            <a:endParaRPr lang="en-US" sz="750"/>
          </a:p>
        </p:txBody>
      </p:sp>
      <p:sp>
        <p:nvSpPr>
          <p:cNvPr id="12" name="Shape 9"/>
          <p:cNvSpPr/>
          <p:nvPr/>
        </p:nvSpPr>
        <p:spPr>
          <a:xfrm>
            <a:off x="6243638" y="616148"/>
            <a:ext cx="2614613" cy="1198364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6513" y="759023"/>
            <a:ext cx="23288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VALIDACIÓN</a:t>
            </a:r>
            <a:endParaRPr lang="en-US" sz="800"/>
          </a:p>
        </p:txBody>
      </p:sp>
      <p:sp>
        <p:nvSpPr>
          <p:cNvPr id="14" name="Text 11"/>
          <p:cNvSpPr/>
          <p:nvPr/>
        </p:nvSpPr>
        <p:spPr>
          <a:xfrm>
            <a:off x="6386513" y="1019770"/>
            <a:ext cx="2328863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Asegura que solo valores coherentes (como salarios positivos) sean almacenados.</a:t>
            </a:r>
            <a:endParaRPr lang="en-US" sz="950"/>
          </a:p>
        </p:txBody>
      </p:sp>
      <p:sp>
        <p:nvSpPr>
          <p:cNvPr id="15" name="Shape 12"/>
          <p:cNvSpPr/>
          <p:nvPr/>
        </p:nvSpPr>
        <p:spPr>
          <a:xfrm>
            <a:off x="6243638" y="1900238"/>
            <a:ext cx="2614613" cy="1198364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6513" y="2043113"/>
            <a:ext cx="23288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ABSTRACCIÓN</a:t>
            </a:r>
            <a:endParaRPr lang="en-US" sz="800"/>
          </a:p>
        </p:txBody>
      </p:sp>
      <p:sp>
        <p:nvSpPr>
          <p:cNvPr id="17" name="Text 14"/>
          <p:cNvSpPr/>
          <p:nvPr/>
        </p:nvSpPr>
        <p:spPr>
          <a:xfrm>
            <a:off x="6386513" y="2303859"/>
            <a:ext cx="232886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Oculta la complejidad interna de cómo se guardan o calculan los datos.</a:t>
            </a:r>
            <a:endParaRPr lang="en-US" sz="950"/>
          </a:p>
        </p:txBody>
      </p:sp>
      <p:sp>
        <p:nvSpPr>
          <p:cNvPr id="18" name="Shape 15"/>
          <p:cNvSpPr/>
          <p:nvPr/>
        </p:nvSpPr>
        <p:spPr>
          <a:xfrm>
            <a:off x="6243638" y="3028950"/>
            <a:ext cx="2614613" cy="1042988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6513" y="3171825"/>
            <a:ext cx="23288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CONSISTENCIA</a:t>
            </a:r>
            <a:endParaRPr lang="en-US" sz="800"/>
          </a:p>
        </p:txBody>
      </p:sp>
      <p:sp>
        <p:nvSpPr>
          <p:cNvPr id="20" name="Text 17"/>
          <p:cNvSpPr/>
          <p:nvPr/>
        </p:nvSpPr>
        <p:spPr>
          <a:xfrm>
            <a:off x="6386513" y="3432572"/>
            <a:ext cx="232886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Mantiene el estado del objeto válido en todo momento del ciclo de vida.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17145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IMPLEMENTACIÓN</a:t>
            </a:r>
            <a:endParaRPr lang="en-US" sz="750"/>
          </a:p>
        </p:txBody>
      </p:sp>
      <p:sp>
        <p:nvSpPr>
          <p:cNvPr id="4" name="Text 1"/>
          <p:cNvSpPr/>
          <p:nvPr/>
        </p:nvSpPr>
        <p:spPr>
          <a:xfrm>
            <a:off x="285750" y="793738"/>
            <a:ext cx="1714500" cy="1650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1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POO REAL EN CLASES DE ENTIDAD</a:t>
            </a:r>
            <a:endParaRPr lang="en-US" sz="2100"/>
          </a:p>
        </p:txBody>
      </p:sp>
      <p:sp>
        <p:nvSpPr>
          <p:cNvPr id="5" name="Text 2"/>
          <p:cNvSpPr/>
          <p:nvPr/>
        </p:nvSpPr>
        <p:spPr>
          <a:xfrm>
            <a:off x="2443163" y="428625"/>
            <a:ext cx="2643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ESTRUCTURA DEL SISTEMA</a:t>
            </a:r>
            <a:endParaRPr lang="en-US" sz="750"/>
          </a:p>
        </p:txBody>
      </p:sp>
      <p:sp>
        <p:nvSpPr>
          <p:cNvPr id="6" name="Text 3"/>
          <p:cNvSpPr/>
          <p:nvPr/>
        </p:nvSpPr>
        <p:spPr>
          <a:xfrm>
            <a:off x="2443163" y="687586"/>
            <a:ext cx="2643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NomiCore utiliza clases de entidad robustas que forman el núcleo del modelo de datos.</a:t>
            </a:r>
            <a:endParaRPr lang="en-US" sz="1050"/>
          </a:p>
        </p:txBody>
      </p:sp>
      <p:sp>
        <p:nvSpPr>
          <p:cNvPr id="7" name="Shape 4"/>
          <p:cNvSpPr/>
          <p:nvPr/>
        </p:nvSpPr>
        <p:spPr>
          <a:xfrm>
            <a:off x="2443163" y="1516261"/>
            <a:ext cx="2643188" cy="1443038"/>
          </a:xfrm>
          <a:prstGeom prst="rect">
            <a:avLst/>
          </a:prstGeom>
          <a:solidFill>
            <a:srgbClr val="0D0221"/>
          </a:solidFill>
          <a:ln w="18288">
            <a:solidFill>
              <a:srgbClr val="9D4E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50319" y="1623417"/>
            <a:ext cx="2428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Empleado / Asistencia</a:t>
            </a:r>
            <a:endParaRPr lang="en-US" sz="1000"/>
          </a:p>
        </p:txBody>
      </p:sp>
      <p:sp>
        <p:nvSpPr>
          <p:cNvPr id="9" name="Text 6"/>
          <p:cNvSpPr/>
          <p:nvPr/>
        </p:nvSpPr>
        <p:spPr>
          <a:xfrm>
            <a:off x="2550319" y="1994892"/>
            <a:ext cx="2428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Protección de datos sensibles como salarios y registros de tiempo.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2443163" y="3037880"/>
            <a:ext cx="2643188" cy="1214438"/>
          </a:xfrm>
          <a:prstGeom prst="rect">
            <a:avLst/>
          </a:prstGeom>
          <a:solidFill>
            <a:srgbClr val="0D0221"/>
          </a:solidFill>
          <a:ln w="18288">
            <a:solidFill>
              <a:srgbClr val="9D4E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50319" y="3145036"/>
            <a:ext cx="2428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Nomina / Comprobante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2550319" y="3516511"/>
            <a:ext cx="2428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Gestión de cálculos complejos y estados de pago.</a:t>
            </a:r>
            <a:endParaRPr lang="en-US" sz="1050"/>
          </a:p>
        </p:txBody>
      </p:sp>
      <p:sp>
        <p:nvSpPr>
          <p:cNvPr id="13" name="Text 10"/>
          <p:cNvSpPr/>
          <p:nvPr/>
        </p:nvSpPr>
        <p:spPr>
          <a:xfrm>
            <a:off x="2443163" y="4366617"/>
            <a:ext cx="2643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Estas clases interactúan directamente con </a:t>
            </a:r>
            <a:r>
              <a:rPr lang="en-US" sz="1000" b="1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SQLite</a:t>
            </a:r>
            <a:r>
              <a:rPr lang="en-US" sz="10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y los servicios de negocio.</a:t>
            </a:r>
            <a:endParaRPr lang="en-US" sz="1050"/>
          </a:p>
        </p:txBody>
      </p:sp>
      <p:sp>
        <p:nvSpPr>
          <p:cNvPr id="14" name="Shape 11"/>
          <p:cNvSpPr/>
          <p:nvPr/>
        </p:nvSpPr>
        <p:spPr>
          <a:xfrm>
            <a:off x="5386388" y="0"/>
            <a:ext cx="3757613" cy="5143500"/>
          </a:xfrm>
          <a:prstGeom prst="rect">
            <a:avLst/>
          </a:prstGeom>
          <a:solidFill>
            <a:srgbClr val="160630"/>
          </a:solidFill>
          <a:ln/>
        </p:spPr>
      </p:sp>
      <p:sp>
        <p:nvSpPr>
          <p:cNvPr id="15" name="Text 12"/>
          <p:cNvSpPr/>
          <p:nvPr/>
        </p:nvSpPr>
        <p:spPr>
          <a:xfrm>
            <a:off x="6431831" y="428625"/>
            <a:ext cx="166669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DIAGRAMA UML DE CLASES</a:t>
            </a:r>
            <a:endParaRPr lang="en-US" sz="75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994" y="616148"/>
            <a:ext cx="3200400" cy="36290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84739" y="4316611"/>
            <a:ext cx="156090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>
                <a:solidFill>
                  <a:srgbClr val="9D4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Relaciones entre entidades principales</a:t>
            </a:r>
            <a:endParaRPr lang="en-US" sz="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17145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ROBUSTEZ</a:t>
            </a:r>
            <a:endParaRPr lang="en-US" sz="750"/>
          </a:p>
        </p:txBody>
      </p:sp>
      <p:sp>
        <p:nvSpPr>
          <p:cNvPr id="4" name="Text 1"/>
          <p:cNvSpPr/>
          <p:nvPr/>
        </p:nvSpPr>
        <p:spPr>
          <a:xfrm>
            <a:off x="144236" y="761082"/>
            <a:ext cx="1877785" cy="64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400" b="1">
                <a:solidFill>
                  <a:srgbClr val="BE95FF"/>
                </a:solidFill>
                <a:latin typeface="Space Grotesk Bold"/>
                <a:ea typeface="Space Grotesk Bold"/>
                <a:cs typeface="Space Grotesk Bold" pitchFamily="34" charset="-120"/>
              </a:rPr>
              <a:t>PREVENCIÓN</a:t>
            </a:r>
            <a:r>
              <a:rPr lang="en-US" sz="1600" b="1">
                <a:solidFill>
                  <a:srgbClr val="BE95FF"/>
                </a:solidFill>
                <a:latin typeface="Space Grotesk Bold"/>
                <a:ea typeface="Space Grotesk Bold"/>
                <a:cs typeface="Space Grotesk Bold" pitchFamily="34" charset="-120"/>
              </a:rPr>
              <a:t> DE DATOS INCONSISTENTES</a:t>
            </a:r>
            <a:endParaRPr lang="en-US" sz="1600">
              <a:latin typeface="Space Grotesk Bold"/>
              <a:ea typeface="Space Grotesk Bold"/>
            </a:endParaRPr>
          </a:p>
        </p:txBody>
      </p:sp>
      <p:sp>
        <p:nvSpPr>
          <p:cNvPr id="5" name="Text 2"/>
          <p:cNvSpPr/>
          <p:nvPr/>
        </p:nvSpPr>
        <p:spPr>
          <a:xfrm>
            <a:off x="2443163" y="428625"/>
            <a:ext cx="28575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VALIDACIÓN EN TIEMPO REAL</a:t>
            </a:r>
            <a:endParaRPr lang="en-US" sz="750"/>
          </a:p>
        </p:txBody>
      </p:sp>
      <p:sp>
        <p:nvSpPr>
          <p:cNvPr id="6" name="Text 3"/>
          <p:cNvSpPr/>
          <p:nvPr/>
        </p:nvSpPr>
        <p:spPr>
          <a:xfrm>
            <a:off x="2443163" y="701873"/>
            <a:ext cx="2857500" cy="1009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NomiCore utiliza el helper </a:t>
            </a:r>
            <a:r>
              <a:rPr lang="en-US" sz="11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EntityValidation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para asegurar que los datos cumplan requisitos mínimos antes de ser procesados.</a:t>
            </a:r>
            <a:endParaRPr lang="en-US" sz="1150"/>
          </a:p>
        </p:txBody>
      </p:sp>
      <p:sp>
        <p:nvSpPr>
          <p:cNvPr id="7" name="Text 4"/>
          <p:cNvSpPr/>
          <p:nvPr/>
        </p:nvSpPr>
        <p:spPr>
          <a:xfrm>
            <a:off x="2443163" y="1882713"/>
            <a:ext cx="285750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>
                <a:solidFill>
                  <a:srgbClr val="BE95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Salarios: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Se garantiza que sean valores no negativos.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2443163" y="2557072"/>
            <a:ext cx="2857500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>
                <a:solidFill>
                  <a:srgbClr val="BE95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Nombres: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Validación de campos obligatorios para evitar registros vacíos.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2443163" y="3482885"/>
            <a:ext cx="2857500" cy="50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>
                <a:solidFill>
                  <a:srgbClr val="BE95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Estados: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Restricción a valores permitidos como </a:t>
            </a:r>
            <a:r>
              <a:rPr lang="en-US" sz="11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Puntual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 </a:t>
            </a:r>
            <a:r>
              <a:rPr lang="en-US" sz="11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Falta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5600700" y="0"/>
            <a:ext cx="3543300" cy="5143500"/>
          </a:xfrm>
          <a:prstGeom prst="rect">
            <a:avLst/>
          </a:prstGeom>
          <a:solidFill>
            <a:srgbClr val="160630"/>
          </a:solidFill>
          <a:ln/>
        </p:spPr>
      </p:sp>
      <p:sp>
        <p:nvSpPr>
          <p:cNvPr id="11" name="Text 8"/>
          <p:cNvSpPr/>
          <p:nvPr/>
        </p:nvSpPr>
        <p:spPr>
          <a:xfrm>
            <a:off x="5886450" y="428625"/>
            <a:ext cx="29718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EJEMPLO DE IMPLEMENTACIÓN</a:t>
            </a:r>
            <a:endParaRPr lang="en-US" sz="750"/>
          </a:p>
        </p:txBody>
      </p:sp>
      <p:sp>
        <p:nvSpPr>
          <p:cNvPr id="12" name="Shape 9"/>
          <p:cNvSpPr/>
          <p:nvPr/>
        </p:nvSpPr>
        <p:spPr>
          <a:xfrm>
            <a:off x="5886450" y="616148"/>
            <a:ext cx="2971800" cy="1782980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29325" y="759023"/>
            <a:ext cx="2686050" cy="14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decimal</a:t>
            </a:r>
            <a:r>
              <a:rPr lang="en-US" sz="850">
                <a:solidFill>
                  <a:srgbClr val="E0D1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SalarioBase {
</a:t>
            </a:r>
            <a:r>
              <a:rPr lang="en-US" sz="850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get</a:t>
            </a:r>
            <a:r>
              <a:rPr lang="en-US" sz="850">
                <a:solidFill>
                  <a:srgbClr val="E0D1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=&gt; salarioBase;
</a:t>
            </a:r>
            <a:r>
              <a:rPr lang="en-US" sz="850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set</a:t>
            </a:r>
            <a:r>
              <a:rPr lang="en-US" sz="850">
                <a:solidFill>
                  <a:srgbClr val="E0D1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
EntityValidation.</a:t>
            </a:r>
            <a:r>
              <a:rPr lang="en-US" sz="8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RequireNonNegative</a:t>
            </a:r>
            <a:r>
              <a:rPr lang="en-US" sz="850">
                <a:solidFill>
                  <a:srgbClr val="E0D1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
value, </a:t>
            </a:r>
            <a:r>
              <a:rPr lang="en-US" sz="850">
                <a:solidFill>
                  <a:srgbClr val="7B2CB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"El salario base"</a:t>
            </a:r>
            <a:r>
              <a:rPr lang="en-US" sz="850">
                <a:solidFill>
                  <a:srgbClr val="E0D1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);
salarioBase = value;
}
}</a:t>
            </a:r>
            <a:endParaRPr lang="en-US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B143E-4013-EAA0-4F12-10F6BA6D7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48FCDCA-83C9-0095-6FEE-7BABF9EA9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2B4ED15-357D-6F34-51CD-13F750CE9600}"/>
              </a:ext>
            </a:extLst>
          </p:cNvPr>
          <p:cNvSpPr/>
          <p:nvPr/>
        </p:nvSpPr>
        <p:spPr>
          <a:xfrm>
            <a:off x="446314" y="2079422"/>
            <a:ext cx="8251372" cy="975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7200" b="1">
                <a:solidFill>
                  <a:srgbClr val="BE95FF"/>
                </a:solidFill>
                <a:latin typeface="Space Grotesk Bold"/>
                <a:ea typeface="Space Grotesk Bold" pitchFamily="34" charset="-122"/>
                <a:cs typeface="Space Grotesk Bold" pitchFamily="34" charset="-120"/>
              </a:rPr>
              <a:t>PRINTDOCUMENT</a:t>
            </a:r>
            <a:endParaRPr lang="en-US" sz="7200">
              <a:latin typeface="Space Grotesk Bold"/>
            </a:endParaRPr>
          </a:p>
        </p:txBody>
      </p:sp>
    </p:spTree>
    <p:extLst>
      <p:ext uri="{BB962C8B-B14F-4D97-AF65-F5344CB8AC3E}">
        <p14:creationId xmlns:p14="http://schemas.microsoft.com/office/powerpoint/2010/main" val="2123776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20716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TECNOLOGÍA</a:t>
            </a:r>
            <a:endParaRPr lang="en-US" sz="750"/>
          </a:p>
        </p:txBody>
      </p:sp>
      <p:sp>
        <p:nvSpPr>
          <p:cNvPr id="4" name="Text 1"/>
          <p:cNvSpPr/>
          <p:nvPr/>
        </p:nvSpPr>
        <p:spPr>
          <a:xfrm>
            <a:off x="204108" y="827367"/>
            <a:ext cx="2158773" cy="243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b="1">
                <a:solidFill>
                  <a:srgbClr val="BE95FF"/>
                </a:solidFill>
                <a:latin typeface="Space Grotesk Bold" pitchFamily="34" charset="0"/>
                <a:ea typeface="Space Grotesk Bold"/>
                <a:cs typeface="Space Grotesk Bold" pitchFamily="34" charset="-120"/>
              </a:rPr>
              <a:t> PRINTDOCUMENT</a:t>
            </a:r>
            <a:endParaRPr lang="en-US">
              <a:ea typeface="Space Grotesk Bold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00350" y="428625"/>
            <a:ext cx="28575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CONCEPTOS</a:t>
            </a:r>
            <a:endParaRPr lang="en-US" sz="750"/>
          </a:p>
        </p:txBody>
      </p:sp>
      <p:sp>
        <p:nvSpPr>
          <p:cNvPr id="6" name="Text 3"/>
          <p:cNvSpPr/>
          <p:nvPr/>
        </p:nvSpPr>
        <p:spPr>
          <a:xfrm>
            <a:off x="2800350" y="701873"/>
            <a:ext cx="2857500" cy="757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Utiliza la clase nativa </a:t>
            </a:r>
            <a:r>
              <a:rPr lang="en-US" sz="11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System.Drawing.Printing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 .NET Framework.</a:t>
            </a:r>
            <a:endParaRPr lang="en-US" sz="1150"/>
          </a:p>
        </p:txBody>
      </p:sp>
      <p:sp>
        <p:nvSpPr>
          <p:cNvPr id="7" name="Text 4"/>
          <p:cNvSpPr/>
          <p:nvPr/>
        </p:nvSpPr>
        <p:spPr>
          <a:xfrm>
            <a:off x="2800350" y="1631259"/>
            <a:ext cx="28575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Permite generar reportes y comprobantes sin depender de software de terceros o generadores externos.</a:t>
            </a:r>
            <a:endParaRPr lang="en-US" sz="1150"/>
          </a:p>
        </p:txBody>
      </p:sp>
      <p:sp>
        <p:nvSpPr>
          <p:cNvPr id="8" name="Text 5"/>
          <p:cNvSpPr/>
          <p:nvPr/>
        </p:nvSpPr>
        <p:spPr>
          <a:xfrm>
            <a:off x="2800350" y="2808526"/>
            <a:ext cx="2857500" cy="757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Ofrece </a:t>
            </a:r>
            <a:r>
              <a:rPr lang="en-US" sz="1100" b="1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control total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sobre coordenadas, fuentes y líneas mediante el objeto </a:t>
            </a:r>
            <a:r>
              <a:rPr lang="en-US" sz="11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Graphics</a:t>
            </a: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150"/>
          </a:p>
        </p:txBody>
      </p:sp>
      <p:sp>
        <p:nvSpPr>
          <p:cNvPr id="9" name="Text 6"/>
          <p:cNvSpPr/>
          <p:nvPr/>
        </p:nvSpPr>
        <p:spPr>
          <a:xfrm>
            <a:off x="2800350" y="3737911"/>
            <a:ext cx="2857500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E0D1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Transforma datos digitales en documentos físicos profesionales con alta precisión.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5957888" y="0"/>
            <a:ext cx="3186113" cy="5143500"/>
          </a:xfrm>
          <a:prstGeom prst="rect">
            <a:avLst/>
          </a:prstGeom>
          <a:solidFill>
            <a:srgbClr val="160630"/>
          </a:solidFill>
          <a:ln/>
        </p:spPr>
      </p:sp>
      <p:sp>
        <p:nvSpPr>
          <p:cNvPr id="11" name="Text 8"/>
          <p:cNvSpPr/>
          <p:nvPr/>
        </p:nvSpPr>
        <p:spPr>
          <a:xfrm>
            <a:off x="6243638" y="428625"/>
            <a:ext cx="2614613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VENTAJAS</a:t>
            </a:r>
            <a:endParaRPr lang="en-US" sz="750"/>
          </a:p>
        </p:txBody>
      </p:sp>
      <p:sp>
        <p:nvSpPr>
          <p:cNvPr id="12" name="Shape 9"/>
          <p:cNvSpPr/>
          <p:nvPr/>
        </p:nvSpPr>
        <p:spPr>
          <a:xfrm>
            <a:off x="6243638" y="616148"/>
            <a:ext cx="2614613" cy="1198364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6513" y="759023"/>
            <a:ext cx="23288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INDEPENDENCIA</a:t>
            </a:r>
            <a:endParaRPr lang="en-US" sz="800"/>
          </a:p>
        </p:txBody>
      </p:sp>
      <p:sp>
        <p:nvSpPr>
          <p:cNvPr id="14" name="Text 11"/>
          <p:cNvSpPr/>
          <p:nvPr/>
        </p:nvSpPr>
        <p:spPr>
          <a:xfrm>
            <a:off x="6386513" y="1019770"/>
            <a:ext cx="2328863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requiere licencias adicionales ni instalaciones de motores de reporte pesados.</a:t>
            </a:r>
            <a:endParaRPr lang="en-US" sz="950"/>
          </a:p>
        </p:txBody>
      </p:sp>
      <p:sp>
        <p:nvSpPr>
          <p:cNvPr id="15" name="Shape 12"/>
          <p:cNvSpPr/>
          <p:nvPr/>
        </p:nvSpPr>
        <p:spPr>
          <a:xfrm>
            <a:off x="6243638" y="1900238"/>
            <a:ext cx="2614613" cy="1198364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6513" y="2043113"/>
            <a:ext cx="23288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FLEXIBILIDAD</a:t>
            </a:r>
            <a:endParaRPr lang="en-US" sz="800"/>
          </a:p>
        </p:txBody>
      </p:sp>
      <p:sp>
        <p:nvSpPr>
          <p:cNvPr id="17" name="Text 14"/>
          <p:cNvSpPr/>
          <p:nvPr/>
        </p:nvSpPr>
        <p:spPr>
          <a:xfrm>
            <a:off x="6386513" y="2303859"/>
            <a:ext cx="2328863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dinámico que se adapta al contenido de cada empleado en tiempo real.</a:t>
            </a:r>
            <a:endParaRPr lang="en-US" sz="950"/>
          </a:p>
        </p:txBody>
      </p:sp>
      <p:sp>
        <p:nvSpPr>
          <p:cNvPr id="18" name="Shape 15"/>
          <p:cNvSpPr/>
          <p:nvPr/>
        </p:nvSpPr>
        <p:spPr>
          <a:xfrm>
            <a:off x="6243638" y="3184327"/>
            <a:ext cx="2614613" cy="1198364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6513" y="3327202"/>
            <a:ext cx="23288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NATIVO</a:t>
            </a:r>
            <a:endParaRPr lang="en-US" sz="800"/>
          </a:p>
        </p:txBody>
      </p:sp>
      <p:sp>
        <p:nvSpPr>
          <p:cNvPr id="20" name="Text 17"/>
          <p:cNvSpPr/>
          <p:nvPr/>
        </p:nvSpPr>
        <p:spPr>
          <a:xfrm>
            <a:off x="6386513" y="3587948"/>
            <a:ext cx="2328863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perfecta con el ecosistema de Windows Forms y GDI+.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171450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PROCESO</a:t>
            </a:r>
            <a:endParaRPr lang="en-US" sz="750"/>
          </a:p>
        </p:txBody>
      </p:sp>
      <p:sp>
        <p:nvSpPr>
          <p:cNvPr id="4" name="Text 1"/>
          <p:cNvSpPr/>
          <p:nvPr/>
        </p:nvSpPr>
        <p:spPr>
          <a:xfrm>
            <a:off x="285750" y="805597"/>
            <a:ext cx="1714500" cy="1382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5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FLUJO LÓGICO DE IMPRESIÓN</a:t>
            </a:r>
            <a:endParaRPr lang="en-US" sz="2250"/>
          </a:p>
        </p:txBody>
      </p:sp>
      <p:sp>
        <p:nvSpPr>
          <p:cNvPr id="5" name="Text 2"/>
          <p:cNvSpPr/>
          <p:nvPr/>
        </p:nvSpPr>
        <p:spPr>
          <a:xfrm>
            <a:off x="2443163" y="428625"/>
            <a:ext cx="26431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FASES TÉCNICAS</a:t>
            </a:r>
            <a:endParaRPr lang="en-US" sz="750"/>
          </a:p>
        </p:txBody>
      </p:sp>
      <p:sp>
        <p:nvSpPr>
          <p:cNvPr id="6" name="Text 3"/>
          <p:cNvSpPr/>
          <p:nvPr/>
        </p:nvSpPr>
        <p:spPr>
          <a:xfrm>
            <a:off x="2443163" y="616148"/>
            <a:ext cx="26431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2443163" y="821531"/>
            <a:ext cx="2643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BE95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Selección y Validación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2443163" y="1067991"/>
            <a:ext cx="26431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verifica la existencia de datos válidos antes de iniciar el proceso.</a:t>
            </a:r>
            <a:endParaRPr lang="en-US" sz="950"/>
          </a:p>
        </p:txBody>
      </p:sp>
      <p:sp>
        <p:nvSpPr>
          <p:cNvPr id="9" name="Text 6"/>
          <p:cNvSpPr/>
          <p:nvPr/>
        </p:nvSpPr>
        <p:spPr>
          <a:xfrm>
            <a:off x="2443163" y="1642337"/>
            <a:ext cx="26431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2443163" y="1847720"/>
            <a:ext cx="2643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BE95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Vista Previa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2443163" y="2094179"/>
            <a:ext cx="2643188" cy="361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</a:t>
            </a:r>
            <a:r>
              <a:rPr lang="en-US" sz="950">
                <a:solidFill>
                  <a:srgbClr val="E0D1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PrintPreviewDialog</a:t>
            </a: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confirmación visual del diseño.</a:t>
            </a:r>
            <a:endParaRPr lang="en-US" sz="950"/>
          </a:p>
        </p:txBody>
      </p:sp>
      <p:sp>
        <p:nvSpPr>
          <p:cNvPr id="12" name="Text 9"/>
          <p:cNvSpPr/>
          <p:nvPr/>
        </p:nvSpPr>
        <p:spPr>
          <a:xfrm>
            <a:off x="2443163" y="2670311"/>
            <a:ext cx="26431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2443163" y="2875694"/>
            <a:ext cx="2643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BE95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Evento PrintPage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2443163" y="3122154"/>
            <a:ext cx="2643188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núcleo donde se "dibuja" programáticamente el contenido del documento.</a:t>
            </a:r>
            <a:endParaRPr lang="en-US" sz="950"/>
          </a:p>
        </p:txBody>
      </p:sp>
      <p:sp>
        <p:nvSpPr>
          <p:cNvPr id="15" name="Text 12"/>
          <p:cNvSpPr/>
          <p:nvPr/>
        </p:nvSpPr>
        <p:spPr>
          <a:xfrm>
            <a:off x="2443163" y="3876517"/>
            <a:ext cx="26431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900"/>
          </a:p>
        </p:txBody>
      </p:sp>
      <p:sp>
        <p:nvSpPr>
          <p:cNvPr id="16" name="Text 13"/>
          <p:cNvSpPr/>
          <p:nvPr/>
        </p:nvSpPr>
        <p:spPr>
          <a:xfrm>
            <a:off x="2443163" y="4081900"/>
            <a:ext cx="2643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BE95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DrawString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2443163" y="4328359"/>
            <a:ext cx="26431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Posicionamiento dinámico de información y cálculos sobre el lienzo.</a:t>
            </a:r>
            <a:endParaRPr lang="en-US" sz="950"/>
          </a:p>
        </p:txBody>
      </p:sp>
      <p:sp>
        <p:nvSpPr>
          <p:cNvPr id="18" name="Shape 15"/>
          <p:cNvSpPr/>
          <p:nvPr/>
        </p:nvSpPr>
        <p:spPr>
          <a:xfrm>
            <a:off x="5386388" y="0"/>
            <a:ext cx="3757613" cy="5143500"/>
          </a:xfrm>
          <a:prstGeom prst="rect">
            <a:avLst/>
          </a:prstGeom>
          <a:solidFill>
            <a:srgbClr val="160630"/>
          </a:solidFill>
          <a:ln/>
        </p:spPr>
      </p:sp>
      <p:sp>
        <p:nvSpPr>
          <p:cNvPr id="19" name="Text 16"/>
          <p:cNvSpPr/>
          <p:nvPr/>
        </p:nvSpPr>
        <p:spPr>
          <a:xfrm>
            <a:off x="5672138" y="428625"/>
            <a:ext cx="3186113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DIAGRAMA DE FLUJO</a:t>
            </a:r>
            <a:endParaRPr lang="en-US" sz="750"/>
          </a:p>
        </p:txBody>
      </p:sp>
      <p:sp>
        <p:nvSpPr>
          <p:cNvPr id="20" name="Shape 17"/>
          <p:cNvSpPr/>
          <p:nvPr/>
        </p:nvSpPr>
        <p:spPr>
          <a:xfrm>
            <a:off x="5672138" y="616148"/>
            <a:ext cx="3200400" cy="3629025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013" y="759023"/>
            <a:ext cx="2857500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71875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557588" y="0"/>
            <a:ext cx="14288" cy="514350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5" name="Text 2"/>
          <p:cNvSpPr/>
          <p:nvPr/>
        </p:nvSpPr>
        <p:spPr>
          <a:xfrm>
            <a:off x="221796" y="689511"/>
            <a:ext cx="3271157" cy="914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5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PROFESIONALIZACIÓN MEDIANTE COMPROBANTES</a:t>
            </a:r>
            <a:endParaRPr lang="en-US" sz="2250"/>
          </a:p>
        </p:txBody>
      </p:sp>
      <p:sp>
        <p:nvSpPr>
          <p:cNvPr id="6" name="Shape 3"/>
          <p:cNvSpPr/>
          <p:nvPr/>
        </p:nvSpPr>
        <p:spPr>
          <a:xfrm>
            <a:off x="428625" y="2012500"/>
            <a:ext cx="2857500" cy="1246584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0075" y="2183950"/>
            <a:ext cx="2514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MÓDULO DE GESTIÓN</a:t>
            </a:r>
            <a:endParaRPr lang="en-US" sz="750"/>
          </a:p>
        </p:txBody>
      </p:sp>
      <p:sp>
        <p:nvSpPr>
          <p:cNvPr id="8" name="Text 5"/>
          <p:cNvSpPr/>
          <p:nvPr/>
        </p:nvSpPr>
        <p:spPr>
          <a:xfrm>
            <a:off x="600075" y="2387547"/>
            <a:ext cx="25146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Interfaz dedicada para la administración de salidas impresas, centralizando el historial de pagos.</a:t>
            </a:r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428625" y="3416247"/>
            <a:ext cx="2857500" cy="1246584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0075" y="3587697"/>
            <a:ext cx="2514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CONTENIDO DINÁMICO</a:t>
            </a:r>
            <a:endParaRPr lang="en-US" sz="750"/>
          </a:p>
        </p:txBody>
      </p:sp>
      <p:sp>
        <p:nvSpPr>
          <p:cNvPr id="11" name="Text 8"/>
          <p:cNvSpPr/>
          <p:nvPr/>
        </p:nvSpPr>
        <p:spPr>
          <a:xfrm>
            <a:off x="600075" y="3791294"/>
            <a:ext cx="25146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automática de ingresos, deducciones y neto a pagar vinculada a la clase </a:t>
            </a:r>
            <a:r>
              <a:rPr lang="en-US" sz="1050">
                <a:solidFill>
                  <a:srgbClr val="BE9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Comprobante</a:t>
            </a:r>
            <a:r>
              <a:rPr lang="en-US" sz="10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/>
          </a:p>
        </p:txBody>
      </p:sp>
      <p:sp>
        <p:nvSpPr>
          <p:cNvPr id="12" name="Shape 9"/>
          <p:cNvSpPr/>
          <p:nvPr/>
        </p:nvSpPr>
        <p:spPr>
          <a:xfrm>
            <a:off x="3571875" y="0"/>
            <a:ext cx="5572125" cy="5143500"/>
          </a:xfrm>
          <a:prstGeom prst="rect">
            <a:avLst/>
          </a:prstGeom>
          <a:solidFill>
            <a:srgbClr val="160630"/>
          </a:solidFill>
          <a:ln/>
        </p:spPr>
      </p:sp>
      <p:sp>
        <p:nvSpPr>
          <p:cNvPr id="13" name="Shape 10"/>
          <p:cNvSpPr/>
          <p:nvPr/>
        </p:nvSpPr>
        <p:spPr>
          <a:xfrm>
            <a:off x="3829050" y="428625"/>
            <a:ext cx="4914900" cy="3271838"/>
          </a:xfrm>
          <a:prstGeom prst="rect">
            <a:avLst/>
          </a:prstGeom>
          <a:solidFill>
            <a:srgbClr val="000000"/>
          </a:solidFill>
          <a:ln w="27432">
            <a:solidFill>
              <a:srgbClr val="9D4ED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25" y="428625"/>
            <a:ext cx="4857750" cy="32146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1994" y="3786188"/>
            <a:ext cx="352901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>
                <a:solidFill>
                  <a:srgbClr val="BE9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 Captura Real: Módulo de Comprobantes en NomiCore ]</a:t>
            </a:r>
            <a:endParaRPr lang="en-US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33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24574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ARQUITECTURA</a:t>
            </a:r>
            <a:endParaRPr lang="en-US" sz="750"/>
          </a:p>
        </p:txBody>
      </p:sp>
      <p:sp>
        <p:nvSpPr>
          <p:cNvPr id="4" name="Text 1"/>
          <p:cNvSpPr/>
          <p:nvPr/>
        </p:nvSpPr>
        <p:spPr>
          <a:xfrm>
            <a:off x="285750" y="774232"/>
            <a:ext cx="2457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SEGURIDAD DE LOS DATOS</a:t>
            </a:r>
            <a:endParaRPr lang="en-US" sz="1800"/>
          </a:p>
        </p:txBody>
      </p:sp>
      <p:sp>
        <p:nvSpPr>
          <p:cNvPr id="5" name="Shape 2"/>
          <p:cNvSpPr/>
          <p:nvPr/>
        </p:nvSpPr>
        <p:spPr>
          <a:xfrm>
            <a:off x="285750" y="1631482"/>
            <a:ext cx="2457450" cy="1668066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802932"/>
            <a:ext cx="21145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Encapsulamiento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457200" y="2106541"/>
            <a:ext cx="211455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restricción de acceso directo a campos privados reduce drásticamente la superficie de errores y manipulaciones no autorizadas.</a:t>
            </a:r>
            <a:endParaRPr lang="en-US" sz="950"/>
          </a:p>
        </p:txBody>
      </p:sp>
      <p:sp>
        <p:nvSpPr>
          <p:cNvPr id="8" name="Shape 5"/>
          <p:cNvSpPr/>
          <p:nvPr/>
        </p:nvSpPr>
        <p:spPr>
          <a:xfrm>
            <a:off x="285750" y="3456710"/>
            <a:ext cx="2457450" cy="1475184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628160"/>
            <a:ext cx="21145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Integridad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457200" y="3931769"/>
            <a:ext cx="21145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Garantiza que el estado interno de los objetos siempre sea consistente con las reglas de negocio.</a:t>
            </a:r>
            <a:endParaRPr lang="en-US" sz="950"/>
          </a:p>
        </p:txBody>
      </p:sp>
      <p:sp>
        <p:nvSpPr>
          <p:cNvPr id="11" name="Shape 8"/>
          <p:cNvSpPr/>
          <p:nvPr/>
        </p:nvSpPr>
        <p:spPr>
          <a:xfrm>
            <a:off x="3043238" y="0"/>
            <a:ext cx="3028950" cy="5143500"/>
          </a:xfrm>
          <a:prstGeom prst="rect">
            <a:avLst/>
          </a:prstGeom>
          <a:solidFill>
            <a:srgbClr val="160630"/>
          </a:solidFill>
          <a:ln/>
        </p:spPr>
      </p:sp>
      <p:sp>
        <p:nvSpPr>
          <p:cNvPr id="12" name="Text 9"/>
          <p:cNvSpPr/>
          <p:nvPr/>
        </p:nvSpPr>
        <p:spPr>
          <a:xfrm>
            <a:off x="3328988" y="428625"/>
            <a:ext cx="24574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DESARROLLO</a:t>
            </a:r>
            <a:endParaRPr lang="en-US" sz="750"/>
          </a:p>
        </p:txBody>
      </p:sp>
      <p:sp>
        <p:nvSpPr>
          <p:cNvPr id="13" name="Text 10"/>
          <p:cNvSpPr/>
          <p:nvPr/>
        </p:nvSpPr>
        <p:spPr>
          <a:xfrm>
            <a:off x="3328988" y="774232"/>
            <a:ext cx="2457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CÓDIGO MANTENIBLE</a:t>
            </a:r>
            <a:endParaRPr lang="en-US" sz="1800"/>
          </a:p>
        </p:txBody>
      </p:sp>
      <p:sp>
        <p:nvSpPr>
          <p:cNvPr id="14" name="Shape 11"/>
          <p:cNvSpPr/>
          <p:nvPr/>
        </p:nvSpPr>
        <p:spPr>
          <a:xfrm>
            <a:off x="3328988" y="1631482"/>
            <a:ext cx="2457450" cy="1475184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00438" y="1802932"/>
            <a:ext cx="21145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Validación Central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3500438" y="2106541"/>
            <a:ext cx="21145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integrar validaciones en las propiedades, se evita la duplicación de lógica en la interfaz de usuario.</a:t>
            </a:r>
            <a:endParaRPr lang="en-US" sz="950"/>
          </a:p>
        </p:txBody>
      </p:sp>
      <p:sp>
        <p:nvSpPr>
          <p:cNvPr id="17" name="Shape 14"/>
          <p:cNvSpPr/>
          <p:nvPr/>
        </p:nvSpPr>
        <p:spPr>
          <a:xfrm>
            <a:off x="3328988" y="3263829"/>
            <a:ext cx="2457450" cy="1475184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00438" y="3435279"/>
            <a:ext cx="21145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Robustez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3500438" y="3738888"/>
            <a:ext cx="21145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sistema que detecta datos inconsistentes en el origen es más fácil de depurar y escalar a largo plazo.</a:t>
            </a:r>
            <a:endParaRPr lang="en-US" sz="950"/>
          </a:p>
        </p:txBody>
      </p:sp>
      <p:sp>
        <p:nvSpPr>
          <p:cNvPr id="20" name="Text 17"/>
          <p:cNvSpPr/>
          <p:nvPr/>
        </p:nvSpPr>
        <p:spPr>
          <a:xfrm>
            <a:off x="6372225" y="428625"/>
            <a:ext cx="24574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USUARIO FINAL</a:t>
            </a:r>
            <a:endParaRPr lang="en-US" sz="750"/>
          </a:p>
        </p:txBody>
      </p:sp>
      <p:sp>
        <p:nvSpPr>
          <p:cNvPr id="21" name="Text 18"/>
          <p:cNvSpPr/>
          <p:nvPr/>
        </p:nvSpPr>
        <p:spPr>
          <a:xfrm>
            <a:off x="6372225" y="774232"/>
            <a:ext cx="2457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8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IMPACTO PROFESIONAL</a:t>
            </a:r>
            <a:endParaRPr lang="en-US" sz="1800"/>
          </a:p>
        </p:txBody>
      </p:sp>
      <p:sp>
        <p:nvSpPr>
          <p:cNvPr id="22" name="Shape 19"/>
          <p:cNvSpPr/>
          <p:nvPr/>
        </p:nvSpPr>
        <p:spPr>
          <a:xfrm>
            <a:off x="6372225" y="1631482"/>
            <a:ext cx="2457450" cy="1475184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43675" y="1802932"/>
            <a:ext cx="21145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Salida Nativa</a:t>
            </a:r>
            <a:endParaRPr lang="en-US" sz="1200"/>
          </a:p>
        </p:txBody>
      </p:sp>
      <p:sp>
        <p:nvSpPr>
          <p:cNvPr id="24" name="Text 21"/>
          <p:cNvSpPr/>
          <p:nvPr/>
        </p:nvSpPr>
        <p:spPr>
          <a:xfrm>
            <a:off x="6543675" y="2106541"/>
            <a:ext cx="21145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implementación de PrintDocument ofrece una solución de impresión integrada y fluida sin dependencias externas.</a:t>
            </a:r>
            <a:endParaRPr lang="en-US" sz="950"/>
          </a:p>
        </p:txBody>
      </p:sp>
      <p:sp>
        <p:nvSpPr>
          <p:cNvPr id="25" name="Shape 22"/>
          <p:cNvSpPr/>
          <p:nvPr/>
        </p:nvSpPr>
        <p:spPr>
          <a:xfrm>
            <a:off x="6372225" y="3263829"/>
            <a:ext cx="2457450" cy="1475184"/>
          </a:xfrm>
          <a:prstGeom prst="rect">
            <a:avLst/>
          </a:prstGeom>
          <a:solidFill>
            <a:srgbClr val="0D0221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43675" y="3435279"/>
            <a:ext cx="21145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Valor Agregado</a:t>
            </a:r>
            <a:endParaRPr lang="en-US" sz="1200"/>
          </a:p>
        </p:txBody>
      </p:sp>
      <p:sp>
        <p:nvSpPr>
          <p:cNvPr id="27" name="Text 24"/>
          <p:cNvSpPr/>
          <p:nvPr/>
        </p:nvSpPr>
        <p:spPr>
          <a:xfrm>
            <a:off x="6543675" y="3738888"/>
            <a:ext cx="21145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 una aplicación de gestión en una herramienta corporativa completa con entregables físicos.</a:t>
            </a:r>
            <a:endParaRPr lang="en-US"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60143"/>
            <a:ext cx="71437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300" b="1">
                <a:solidFill>
                  <a:srgbClr val="BE9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INTEGRACIÓN DE SEGURIDAD Y RESULTADOS</a:t>
            </a:r>
            <a:endParaRPr lang="en-US" sz="3300"/>
          </a:p>
        </p:txBody>
      </p:sp>
      <p:sp>
        <p:nvSpPr>
          <p:cNvPr id="4" name="Shape 1"/>
          <p:cNvSpPr/>
          <p:nvPr/>
        </p:nvSpPr>
        <p:spPr>
          <a:xfrm>
            <a:off x="1000125" y="1900696"/>
            <a:ext cx="7143750" cy="2014538"/>
          </a:xfrm>
          <a:prstGeom prst="rect">
            <a:avLst/>
          </a:prstGeom>
          <a:solidFill>
            <a:srgbClr val="160630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85875" y="2237473"/>
            <a:ext cx="103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1532334" y="2237473"/>
            <a:ext cx="632579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manejo correcto de campos y el uso de PrintDocument son pilares de la robustez de NomiCore.</a:t>
            </a:r>
            <a:endParaRPr lang="en-US" sz="1250"/>
          </a:p>
        </p:txBody>
      </p:sp>
      <p:sp>
        <p:nvSpPr>
          <p:cNvPr id="7" name="Text 4"/>
          <p:cNvSpPr/>
          <p:nvPr/>
        </p:nvSpPr>
        <p:spPr>
          <a:xfrm>
            <a:off x="1285875" y="2794685"/>
            <a:ext cx="103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1532334" y="2794685"/>
            <a:ext cx="632579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logró pasar de conceptos teóricos de POO a una implementación práctica que protege la información.</a:t>
            </a:r>
            <a:endParaRPr lang="en-US" sz="1250"/>
          </a:p>
        </p:txBody>
      </p:sp>
      <p:sp>
        <p:nvSpPr>
          <p:cNvPr id="9" name="Text 6"/>
          <p:cNvSpPr/>
          <p:nvPr/>
        </p:nvSpPr>
        <p:spPr>
          <a:xfrm>
            <a:off x="1285875" y="3351898"/>
            <a:ext cx="103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1532334" y="3351898"/>
            <a:ext cx="632579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E0D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NomiCore se consolida como una herramienta confiable para la administración de personal y nómina.</a:t>
            </a:r>
            <a:endParaRPr lang="en-US" sz="1250"/>
          </a:p>
        </p:txBody>
      </p:sp>
      <p:sp>
        <p:nvSpPr>
          <p:cNvPr id="11" name="Text 8"/>
          <p:cNvSpPr/>
          <p:nvPr/>
        </p:nvSpPr>
        <p:spPr>
          <a:xfrm>
            <a:off x="1714500" y="4123423"/>
            <a:ext cx="5715000" cy="739378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i="1">
                <a:solidFill>
                  <a:srgbClr val="A084C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"La calidad del software nace en la protección de sus datos y se refleja en la utilidad de sus resultados."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3489B-4DAD-2458-916B-BE2DBED88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80607A8-D2D2-65A2-2520-86005E5F0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1573D96-DA18-CBDD-F64D-3B27B0FC6B3C}"/>
              </a:ext>
            </a:extLst>
          </p:cNvPr>
          <p:cNvSpPr/>
          <p:nvPr/>
        </p:nvSpPr>
        <p:spPr>
          <a:xfrm>
            <a:off x="1000125" y="560143"/>
            <a:ext cx="7143750" cy="446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88000"/>
              </a:lnSpc>
            </a:pPr>
            <a:r>
              <a:rPr lang="en-US" sz="3300" b="1">
                <a:solidFill>
                  <a:srgbClr val="BE95FF"/>
                </a:solidFill>
                <a:latin typeface="Space Grotesk Bold"/>
                <a:ea typeface="Space Grotesk Bold"/>
              </a:rPr>
              <a:t>CONCLUSIÓN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D4B2827-0664-5D4D-8FB3-167ADF31C9B6}"/>
              </a:ext>
            </a:extLst>
          </p:cNvPr>
          <p:cNvSpPr/>
          <p:nvPr/>
        </p:nvSpPr>
        <p:spPr>
          <a:xfrm>
            <a:off x="1000125" y="1394510"/>
            <a:ext cx="7143750" cy="2014538"/>
          </a:xfrm>
          <a:prstGeom prst="rect">
            <a:avLst/>
          </a:prstGeom>
          <a:solidFill>
            <a:srgbClr val="160630"/>
          </a:solidFill>
          <a:ln w="27432">
            <a:solidFill>
              <a:srgbClr val="9D4EDD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B681445-74E8-0390-1784-A590FEC334C9}"/>
              </a:ext>
            </a:extLst>
          </p:cNvPr>
          <p:cNvSpPr/>
          <p:nvPr/>
        </p:nvSpPr>
        <p:spPr>
          <a:xfrm>
            <a:off x="1291318" y="1823815"/>
            <a:ext cx="103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9D4ED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12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4DAF17B-53A8-9836-55A2-0C1DC0B0F22D}"/>
              </a:ext>
            </a:extLst>
          </p:cNvPr>
          <p:cNvSpPr/>
          <p:nvPr/>
        </p:nvSpPr>
        <p:spPr>
          <a:xfrm>
            <a:off x="1477905" y="1823816"/>
            <a:ext cx="6325791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El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manejo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correcto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de campos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permite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conservar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información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del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empleado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,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cálculo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y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comprobante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sin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exponer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datos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de forma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insegura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.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PrintDocument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permite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convertir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esos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datos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en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un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documento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imprimible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,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siempre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que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se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controle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el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evento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PrintPage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,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los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márgenes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, la vista previa y la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paginación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. La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experiencia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demuestra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que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una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aplicación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Windows Forms de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calidad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no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depende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solo de la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apariencia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,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sino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de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una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estructura</a:t>
            </a:r>
            <a:r>
              <a:rPr lang="en-US" sz="1250">
                <a:solidFill>
                  <a:srgbClr val="E0D1FF"/>
                </a:solidFill>
                <a:latin typeface="Arial"/>
                <a:ea typeface="Inter"/>
                <a:cs typeface="Arial"/>
              </a:rPr>
              <a:t> interna </a:t>
            </a:r>
            <a:r>
              <a:rPr lang="en-US" sz="1250" err="1">
                <a:solidFill>
                  <a:srgbClr val="E0D1FF"/>
                </a:solidFill>
                <a:latin typeface="Arial"/>
                <a:ea typeface="Inter"/>
                <a:cs typeface="Arial"/>
              </a:rPr>
              <a:t>clara</a:t>
            </a:r>
            <a:endParaRPr lang="en-US" err="1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5A9BA3A-A9D4-2AE0-F53D-0C23E33E168C}"/>
              </a:ext>
            </a:extLst>
          </p:cNvPr>
          <p:cNvSpPr/>
          <p:nvPr/>
        </p:nvSpPr>
        <p:spPr>
          <a:xfrm>
            <a:off x="1285875" y="2794685"/>
            <a:ext cx="6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200" b="1">
              <a:solidFill>
                <a:srgbClr val="9D4EDD"/>
              </a:solidFill>
              <a:latin typeface="Roboto Mono"/>
              <a:ea typeface="Roboto Mono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50B7313-12B5-91EE-2AFB-6BE94380DE3B}"/>
              </a:ext>
            </a:extLst>
          </p:cNvPr>
          <p:cNvSpPr/>
          <p:nvPr/>
        </p:nvSpPr>
        <p:spPr>
          <a:xfrm>
            <a:off x="1714500" y="4123423"/>
            <a:ext cx="5715000" cy="739378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i="1">
                <a:solidFill>
                  <a:srgbClr val="A084C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"La calidad del software nace en la protección de sus datos y se refleja en la utilidad de sus resultados."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044359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2026-06-28T23:42:11Z</dcterms:created>
  <dcterms:modified xsi:type="dcterms:W3CDTF">2026-06-29T16:05:32Z</dcterms:modified>
</cp:coreProperties>
</file>